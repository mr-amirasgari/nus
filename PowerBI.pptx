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626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_MASTER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ultra_high_tech_control_room.png"/>
          <p:cNvPicPr>
            <a:picLocks noChangeAspect="1"/>
          </p:cNvPicPr>
          <p:nvPr/>
        </p:nvPicPr>
        <p:blipFill>
          <a:blip r:embed="rId3"/>
          <a:srcRect l="22310" r="22310"/>
          <a:stretch/>
        </p:blipFill>
        <p:spPr>
          <a:xfrm>
            <a:off x="502920" y="502920"/>
            <a:ext cx="562356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6520" y="1051560"/>
            <a:ext cx="50749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34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ارائه جامع Power BI</a:t>
            </a:r>
            <a:endParaRPr lang="fa-IR" sz="3400" dirty="0"/>
          </a:p>
        </p:txBody>
      </p:sp>
      <p:sp>
        <p:nvSpPr>
          <p:cNvPr id="4" name="Text 1"/>
          <p:cNvSpPr/>
          <p:nvPr/>
        </p:nvSpPr>
        <p:spPr>
          <a:xfrm>
            <a:off x="6446520" y="2148840"/>
            <a:ext cx="493776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80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از اتصال به داده تا ساخت داشبوردهای مدیریتی و انتشار امن گزارش‌ها</a:t>
            </a:r>
            <a:endParaRPr lang="fa-IR" sz="1800" dirty="0"/>
          </a:p>
        </p:txBody>
      </p:sp>
      <p:sp>
        <p:nvSpPr>
          <p:cNvPr id="5" name="Shape 2"/>
          <p:cNvSpPr/>
          <p:nvPr/>
        </p:nvSpPr>
        <p:spPr>
          <a:xfrm>
            <a:off x="6492240" y="384048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56832" y="3950208"/>
            <a:ext cx="108813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22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56832" y="4416552"/>
            <a:ext cx="1088136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داده</a:t>
            </a:r>
            <a:endParaRPr lang="fa-IR" sz="1050" dirty="0"/>
          </a:p>
        </p:txBody>
      </p:sp>
      <p:sp>
        <p:nvSpPr>
          <p:cNvPr id="8" name="Shape 5"/>
          <p:cNvSpPr/>
          <p:nvPr/>
        </p:nvSpPr>
        <p:spPr>
          <a:xfrm>
            <a:off x="8138160" y="384048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02752" y="3950208"/>
            <a:ext cx="108813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22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302752" y="4416552"/>
            <a:ext cx="1088136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</a:t>
            </a:r>
            <a:endParaRPr lang="fa-IR" sz="1050" dirty="0"/>
          </a:p>
        </p:txBody>
      </p:sp>
      <p:sp>
        <p:nvSpPr>
          <p:cNvPr id="11" name="Shape 8"/>
          <p:cNvSpPr/>
          <p:nvPr/>
        </p:nvSpPr>
        <p:spPr>
          <a:xfrm>
            <a:off x="9784080" y="384048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48672" y="3950208"/>
            <a:ext cx="108813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22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948672" y="4416552"/>
            <a:ext cx="1088136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بینش</a:t>
            </a:r>
            <a:endParaRPr lang="fa-IR" sz="1050" dirty="0"/>
          </a:p>
        </p:txBody>
      </p:sp>
      <p:sp>
        <p:nvSpPr>
          <p:cNvPr id="14" name="Text 11"/>
          <p:cNvSpPr/>
          <p:nvPr/>
        </p:nvSpPr>
        <p:spPr>
          <a:xfrm>
            <a:off x="6446520" y="5715000"/>
            <a:ext cx="50749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endParaRPr lang="fa-IR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/ 15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37360" y="6547104"/>
            <a:ext cx="664464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6520" y="502920"/>
            <a:ext cx="5074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BI چیست؟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446520" y="1143000"/>
            <a:ext cx="5074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یک پلتفرم تحلیل داده و هوش تجاری برای تصمیم‌گیری سریع‌تر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446520" y="1600200"/>
            <a:ext cx="507492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60120"/>
            <a:ext cx="5120640" cy="5074920"/>
          </a:xfrm>
          <a:prstGeom prst="roundRect">
            <a:avLst>
              <a:gd name="adj" fmla="val 1802"/>
            </a:avLst>
          </a:prstGeom>
          <a:solidFill>
            <a:srgbClr val="102A4A">
              <a:alpha val="95000"/>
            </a:srgbClr>
          </a:solidFill>
          <a:ln w="12700">
            <a:solidFill>
              <a:srgbClr val="1D4D79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43891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7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BI داده‌های پراکنده را به گزارش، داشبورد و شاخص‌های قابل فهم تبدیل می‌کند.</a:t>
            </a:r>
            <a:endParaRPr lang="fa-IR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384048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3950208"/>
            <a:ext cx="9966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22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24712" y="4416552"/>
            <a:ext cx="996696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پاک‌سازی</a:t>
            </a:r>
            <a:endParaRPr lang="fa-IR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384048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3950208"/>
            <a:ext cx="9966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22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DAX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79192" y="4416552"/>
            <a:ext cx="996696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محاسبات</a:t>
            </a:r>
            <a:endParaRPr lang="fa-IR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384048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3950208"/>
            <a:ext cx="9966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22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33672" y="4416552"/>
            <a:ext cx="996696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گزارش</a:t>
            </a:r>
            <a:endParaRPr lang="fa-IR" sz="1050" dirty="0"/>
          </a:p>
        </p:txBody>
      </p:sp>
      <p:sp>
        <p:nvSpPr>
          <p:cNvPr id="17" name="Shape 15"/>
          <p:cNvSpPr/>
          <p:nvPr/>
        </p:nvSpPr>
        <p:spPr>
          <a:xfrm>
            <a:off x="11183112" y="221284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057400"/>
            <a:ext cx="461772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اتصال به منابع متنوع</a:t>
            </a:r>
            <a:endParaRPr lang="fa-IR" sz="1700" dirty="0"/>
          </a:p>
        </p:txBody>
      </p:sp>
      <p:sp>
        <p:nvSpPr>
          <p:cNvPr id="19" name="Shape 17"/>
          <p:cNvSpPr/>
          <p:nvPr/>
        </p:nvSpPr>
        <p:spPr>
          <a:xfrm>
            <a:off x="11183112" y="2798064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642616"/>
            <a:ext cx="461772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تبدیل و مدل‌سازی داده</a:t>
            </a:r>
            <a:endParaRPr lang="fa-IR" sz="1700" dirty="0"/>
          </a:p>
        </p:txBody>
      </p:sp>
      <p:sp>
        <p:nvSpPr>
          <p:cNvPr id="21" name="Shape 19"/>
          <p:cNvSpPr/>
          <p:nvPr/>
        </p:nvSpPr>
        <p:spPr>
          <a:xfrm>
            <a:off x="11183112" y="3383280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227832"/>
            <a:ext cx="461772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 داشبوردهای تعاملی</a:t>
            </a:r>
            <a:endParaRPr lang="fa-IR" sz="1700" dirty="0"/>
          </a:p>
        </p:txBody>
      </p:sp>
      <p:sp>
        <p:nvSpPr>
          <p:cNvPr id="23" name="Shape 21"/>
          <p:cNvSpPr/>
          <p:nvPr/>
        </p:nvSpPr>
        <p:spPr>
          <a:xfrm>
            <a:off x="11183112" y="3968496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813048"/>
            <a:ext cx="461772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اشتراک‌گذاری امن در سازمان</a:t>
            </a:r>
            <a:endParaRPr lang="fa-IR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/ 15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6547104"/>
            <a:ext cx="1328928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394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چرا Power BI مهم است؟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5394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ارزش اصلی: تبدیل داده خام به تصمیم قابل اجرا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9496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960120"/>
            <a:ext cx="5120640" cy="5074920"/>
          </a:xfrm>
          <a:prstGeom prst="roundRect">
            <a:avLst>
              <a:gd name="adj" fmla="val 1802"/>
            </a:avLst>
          </a:prstGeom>
          <a:solidFill>
            <a:srgbClr val="102A4A">
              <a:alpha val="95000"/>
            </a:srgbClr>
          </a:solidFill>
          <a:ln w="12700">
            <a:solidFill>
              <a:srgbClr val="1D4D79">
                <a:alpha val="8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3303270"/>
            <a:ext cx="438912" cy="1634490"/>
          </a:xfrm>
          <a:prstGeom prst="rect">
            <a:avLst/>
          </a:prstGeom>
          <a:solidFill>
            <a:srgbClr val="00D4FF">
              <a:alpha val="96000"/>
            </a:srgbClr>
          </a:solidFill>
          <a:ln w="12700">
            <a:solidFill>
              <a:srgbClr val="00D4FF">
                <a:alpha val="8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2619756"/>
            <a:ext cx="438912" cy="2318004"/>
          </a:xfrm>
          <a:prstGeom prst="rect">
            <a:avLst/>
          </a:prstGeom>
          <a:solidFill>
            <a:srgbClr val="F8C744">
              <a:alpha val="96000"/>
            </a:srgbClr>
          </a:solidFill>
          <a:ln w="12700">
            <a:solidFill>
              <a:srgbClr val="F8C744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9640" y="3630168"/>
            <a:ext cx="438912" cy="1307592"/>
          </a:xfrm>
          <a:prstGeom prst="rect">
            <a:avLst/>
          </a:prstGeom>
          <a:solidFill>
            <a:srgbClr val="00D4FF">
              <a:alpha val="96000"/>
            </a:srgbClr>
          </a:solidFill>
          <a:ln w="12700">
            <a:solidFill>
              <a:srgbClr val="00D4F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2203704"/>
            <a:ext cx="438912" cy="2734056"/>
          </a:xfrm>
          <a:prstGeom prst="rect">
            <a:avLst/>
          </a:prstGeom>
          <a:solidFill>
            <a:srgbClr val="F8C744">
              <a:alpha val="96000"/>
            </a:srgbClr>
          </a:solidFill>
          <a:ln w="12700">
            <a:solidFill>
              <a:srgbClr val="F8C744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95560" y="2827782"/>
            <a:ext cx="438912" cy="2109978"/>
          </a:xfrm>
          <a:prstGeom prst="rect">
            <a:avLst/>
          </a:prstGeom>
          <a:solidFill>
            <a:srgbClr val="00D4FF">
              <a:alpha val="96000"/>
            </a:srgbClr>
          </a:solidFill>
          <a:ln w="12700">
            <a:solidFill>
              <a:srgbClr val="00D4FF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4983480"/>
            <a:ext cx="4251960" cy="0"/>
          </a:xfrm>
          <a:prstGeom prst="line">
            <a:avLst/>
          </a:prstGeom>
          <a:noFill/>
          <a:ln w="12700">
            <a:solidFill>
              <a:srgbClr val="6B8AA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5257800"/>
            <a:ext cx="4206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1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نمونه نمایش روند شاخص‌های سازمانی</a:t>
            </a:r>
            <a:endParaRPr lang="fa-IR" sz="1150" dirty="0"/>
          </a:p>
        </p:txBody>
      </p:sp>
      <p:sp>
        <p:nvSpPr>
          <p:cNvPr id="13" name="Shape 11"/>
          <p:cNvSpPr/>
          <p:nvPr/>
        </p:nvSpPr>
        <p:spPr>
          <a:xfrm>
            <a:off x="5696712" y="221284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057400"/>
            <a:ext cx="480060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کاهش زمان آماده‌سازی گزارش‌ها</a:t>
            </a:r>
            <a:endParaRPr lang="fa-IR" sz="1650" dirty="0"/>
          </a:p>
        </p:txBody>
      </p:sp>
      <p:sp>
        <p:nvSpPr>
          <p:cNvPr id="15" name="Shape 13"/>
          <p:cNvSpPr/>
          <p:nvPr/>
        </p:nvSpPr>
        <p:spPr>
          <a:xfrm>
            <a:off x="5696712" y="2798064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642616"/>
            <a:ext cx="480060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تصمیم‌گیری بر اساس داده‌های به‌روز</a:t>
            </a:r>
            <a:endParaRPr lang="fa-IR" sz="1650" dirty="0"/>
          </a:p>
        </p:txBody>
      </p:sp>
      <p:sp>
        <p:nvSpPr>
          <p:cNvPr id="17" name="Shape 15"/>
          <p:cNvSpPr/>
          <p:nvPr/>
        </p:nvSpPr>
        <p:spPr>
          <a:xfrm>
            <a:off x="5696712" y="3383280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27832"/>
            <a:ext cx="480060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شفافیت بیشتر برای مدیران و تیم‌ها</a:t>
            </a:r>
            <a:endParaRPr lang="fa-IR" sz="1650" dirty="0"/>
          </a:p>
        </p:txBody>
      </p:sp>
      <p:sp>
        <p:nvSpPr>
          <p:cNvPr id="19" name="Shape 17"/>
          <p:cNvSpPr/>
          <p:nvPr/>
        </p:nvSpPr>
        <p:spPr>
          <a:xfrm>
            <a:off x="5696712" y="3968496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13048"/>
            <a:ext cx="480060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یکپارچه‌سازی گزارش‌های پراکنده</a:t>
            </a:r>
            <a:endParaRPr lang="fa-IR" sz="165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/ 15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6547104"/>
            <a:ext cx="1993392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6520" y="502920"/>
            <a:ext cx="5074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اجزای اصلی Power BI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446520" y="1143000"/>
            <a:ext cx="5074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جزء نقش مشخصی در زنجیره تحلیل داده دارد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446520" y="1600200"/>
            <a:ext cx="507492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39112"/>
            <a:ext cx="20482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35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Desktop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24128" y="2441448"/>
            <a:ext cx="197510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طراحی گزارش و مدل داده</a:t>
            </a:r>
            <a:endParaRPr lang="fa-IR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187452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2039112"/>
            <a:ext cx="20482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35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Service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67328" y="2441448"/>
            <a:ext cx="197510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انتشار، اشتراک‌گذاری و مدیریت</a:t>
            </a:r>
            <a:endParaRPr lang="fa-IR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43E6A5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20482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350" b="1" dirty="0">
                <a:solidFill>
                  <a:srgbClr val="43E6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Mobile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24128" y="3950208"/>
            <a:ext cx="197510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مشاهده داشبورد در موبایل</a:t>
            </a:r>
            <a:endParaRPr lang="fa-IR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338328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9F7AEA">
                <a:alpha val="8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3547872"/>
            <a:ext cx="20482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350" b="1" dirty="0">
                <a:solidFill>
                  <a:srgbClr val="9F7A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Gateway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67328" y="3950208"/>
            <a:ext cx="197510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ارتباط امن با داده‌های داخلی</a:t>
            </a:r>
            <a:endParaRPr lang="fa-IR" sz="1050" dirty="0"/>
          </a:p>
        </p:txBody>
      </p:sp>
      <p:pic>
        <p:nvPicPr>
          <p:cNvPr id="17" name="Image 0" descr="/mnt/data/a_clean_high_tech_digital_illustration_infographi.png"/>
          <p:cNvPicPr>
            <a:picLocks noChangeAspect="1"/>
          </p:cNvPicPr>
          <p:nvPr/>
        </p:nvPicPr>
        <p:blipFill>
          <a:blip r:embed="rId3"/>
          <a:srcRect l="17019" r="17019"/>
          <a:stretch/>
        </p:blipFill>
        <p:spPr>
          <a:xfrm>
            <a:off x="6446520" y="1755648"/>
            <a:ext cx="4983480" cy="42519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/ 15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737360" y="6547104"/>
            <a:ext cx="2657856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394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جریان کاری تحلیل داده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5394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مسیر استاندارد از منبع داده تا اقدام مدیریتی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9496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783080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102A4A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920240"/>
            <a:ext cx="502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3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1837944"/>
            <a:ext cx="1325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35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اتصال</a:t>
            </a:r>
            <a:endParaRPr lang="fa-IR" sz="1350" dirty="0"/>
          </a:p>
        </p:txBody>
      </p:sp>
      <p:sp>
        <p:nvSpPr>
          <p:cNvPr id="8" name="Text 6"/>
          <p:cNvSpPr/>
          <p:nvPr/>
        </p:nvSpPr>
        <p:spPr>
          <a:xfrm>
            <a:off x="7178040" y="1856232"/>
            <a:ext cx="233172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دریافت داده از فایل، دیتابیس یا سرویس‌ها</a:t>
            </a:r>
            <a:endParaRPr lang="fa-IR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2651760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788920"/>
            <a:ext cx="502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30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38360" y="2706624"/>
            <a:ext cx="1325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35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آماده‌سازی</a:t>
            </a:r>
            <a:endParaRPr lang="fa-IR" sz="1350" dirty="0"/>
          </a:p>
        </p:txBody>
      </p:sp>
      <p:sp>
        <p:nvSpPr>
          <p:cNvPr id="12" name="Text 10"/>
          <p:cNvSpPr/>
          <p:nvPr/>
        </p:nvSpPr>
        <p:spPr>
          <a:xfrm>
            <a:off x="7178040" y="2724912"/>
            <a:ext cx="233172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پاک‌سازی و شکل‌دهی با Power Query</a:t>
            </a:r>
            <a:endParaRPr lang="fa-IR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3520440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102A4A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657600"/>
            <a:ext cx="502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3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38360" y="3575304"/>
            <a:ext cx="1325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35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مدل‌سازی</a:t>
            </a:r>
            <a:endParaRPr lang="fa-IR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3593592"/>
            <a:ext cx="233172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تعریف روابط، معیارها و منطق تحلیلی</a:t>
            </a:r>
            <a:endParaRPr lang="fa-IR" sz="950" dirty="0"/>
          </a:p>
        </p:txBody>
      </p:sp>
      <p:sp>
        <p:nvSpPr>
          <p:cNvPr id="17" name="Shape 15"/>
          <p:cNvSpPr/>
          <p:nvPr/>
        </p:nvSpPr>
        <p:spPr>
          <a:xfrm>
            <a:off x="6309360" y="4389120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526280"/>
            <a:ext cx="502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30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38360" y="4443984"/>
            <a:ext cx="1325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35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مصورسازی</a:t>
            </a:r>
            <a:endParaRPr lang="fa-IR" sz="1350" dirty="0"/>
          </a:p>
        </p:txBody>
      </p:sp>
      <p:sp>
        <p:nvSpPr>
          <p:cNvPr id="20" name="Text 18"/>
          <p:cNvSpPr/>
          <p:nvPr/>
        </p:nvSpPr>
        <p:spPr>
          <a:xfrm>
            <a:off x="7178040" y="4462272"/>
            <a:ext cx="233172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طراحی گزارش و داشبورد</a:t>
            </a:r>
            <a:endParaRPr lang="fa-IR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5257800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102A4A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5394960"/>
            <a:ext cx="502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3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38360" y="5312664"/>
            <a:ext cx="1325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35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انتشار</a:t>
            </a:r>
            <a:endParaRPr lang="fa-IR" sz="1350" dirty="0"/>
          </a:p>
        </p:txBody>
      </p:sp>
      <p:sp>
        <p:nvSpPr>
          <p:cNvPr id="24" name="Text 22"/>
          <p:cNvSpPr/>
          <p:nvPr/>
        </p:nvSpPr>
        <p:spPr>
          <a:xfrm>
            <a:off x="7178040" y="5330952"/>
            <a:ext cx="233172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اشتراک‌گذاری و به‌روزرسانی امن</a:t>
            </a:r>
            <a:endParaRPr lang="fa-IR" sz="950" dirty="0"/>
          </a:p>
        </p:txBody>
      </p:sp>
      <p:sp>
        <p:nvSpPr>
          <p:cNvPr id="25" name="Shape 23"/>
          <p:cNvSpPr/>
          <p:nvPr/>
        </p:nvSpPr>
        <p:spPr>
          <a:xfrm>
            <a:off x="960120" y="3383280"/>
            <a:ext cx="452628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7240" y="2743200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136392"/>
            <a:ext cx="960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1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منبع داده</a:t>
            </a:r>
            <a:endParaRPr lang="fa-IR" sz="1150" dirty="0"/>
          </a:p>
        </p:txBody>
      </p:sp>
      <p:sp>
        <p:nvSpPr>
          <p:cNvPr id="28" name="Shape 26"/>
          <p:cNvSpPr/>
          <p:nvPr/>
        </p:nvSpPr>
        <p:spPr>
          <a:xfrm>
            <a:off x="2651760" y="2743200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3136392"/>
            <a:ext cx="960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1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</a:t>
            </a:r>
            <a:endParaRPr lang="fa-IR" sz="1150" dirty="0"/>
          </a:p>
        </p:txBody>
      </p:sp>
      <p:sp>
        <p:nvSpPr>
          <p:cNvPr id="30" name="Shape 28"/>
          <p:cNvSpPr/>
          <p:nvPr/>
        </p:nvSpPr>
        <p:spPr>
          <a:xfrm>
            <a:off x="4526280" y="2743200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136392"/>
            <a:ext cx="960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1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داشبورد</a:t>
            </a:r>
            <a:endParaRPr lang="fa-IR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/ 15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37360" y="6547104"/>
            <a:ext cx="332232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6520" y="502920"/>
            <a:ext cx="5074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اتصال به منابع داده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446520" y="1143000"/>
            <a:ext cx="5074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BI می‌تواند منابع مختلف را در یک نمای تحلیلی ترکیب کند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446520" y="1600200"/>
            <a:ext cx="507492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859536" cy="859536"/>
          </a:xfrm>
          <a:prstGeom prst="roundRect">
            <a:avLst>
              <a:gd name="adj" fmla="val 10638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359152"/>
            <a:ext cx="7132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75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892808" y="2057400"/>
            <a:ext cx="859536" cy="859536"/>
          </a:xfrm>
          <a:prstGeom prst="roundRect">
            <a:avLst>
              <a:gd name="adj" fmla="val 10638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2359152"/>
            <a:ext cx="7132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75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Server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16936" y="2057400"/>
            <a:ext cx="859536" cy="859536"/>
          </a:xfrm>
          <a:prstGeom prst="roundRect">
            <a:avLst>
              <a:gd name="adj" fmla="val 10638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359152"/>
            <a:ext cx="7132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75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SharePoint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941064" y="2057400"/>
            <a:ext cx="859536" cy="859536"/>
          </a:xfrm>
          <a:prstGeom prst="roundRect">
            <a:avLst>
              <a:gd name="adj" fmla="val 10638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14216" y="2359152"/>
            <a:ext cx="7132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75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Web/API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965192" y="2057400"/>
            <a:ext cx="859536" cy="859536"/>
          </a:xfrm>
          <a:prstGeom prst="roundRect">
            <a:avLst>
              <a:gd name="adj" fmla="val 10638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2359152"/>
            <a:ext cx="7132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75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0" y="2496312"/>
            <a:ext cx="402336" cy="0"/>
          </a:xfrm>
          <a:prstGeom prst="line">
            <a:avLst/>
          </a:prstGeom>
          <a:noFill/>
          <a:ln w="12700">
            <a:solidFill>
              <a:srgbClr val="F8C74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83680" y="1810512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02A4A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2542032"/>
            <a:ext cx="13716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ورود و شکل‌دهی داده</a:t>
            </a:r>
            <a:endParaRPr lang="fa-IR" sz="950" dirty="0"/>
          </a:p>
        </p:txBody>
      </p:sp>
      <p:sp>
        <p:nvSpPr>
          <p:cNvPr id="19" name="Shape 17"/>
          <p:cNvSpPr/>
          <p:nvPr/>
        </p:nvSpPr>
        <p:spPr>
          <a:xfrm>
            <a:off x="8641080" y="2496312"/>
            <a:ext cx="566928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0" y="1810512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212848"/>
            <a:ext cx="13716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500" b="1" dirty="0">
                <a:solidFill>
                  <a:srgbClr val="00D4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 تحلیلی</a:t>
            </a:r>
            <a:endParaRPr lang="fa-IR" sz="1500" dirty="0"/>
          </a:p>
        </p:txBody>
      </p:sp>
      <p:sp>
        <p:nvSpPr>
          <p:cNvPr id="22" name="Shape 20"/>
          <p:cNvSpPr/>
          <p:nvPr/>
        </p:nvSpPr>
        <p:spPr>
          <a:xfrm>
            <a:off x="11228832" y="413308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977640"/>
            <a:ext cx="46177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انتخاب منبع مناسب بر اساس هدف تحلیل</a:t>
            </a:r>
            <a:endParaRPr lang="fa-IR" sz="1500" dirty="0"/>
          </a:p>
        </p:txBody>
      </p:sp>
      <p:sp>
        <p:nvSpPr>
          <p:cNvPr id="24" name="Shape 22"/>
          <p:cNvSpPr/>
          <p:nvPr/>
        </p:nvSpPr>
        <p:spPr>
          <a:xfrm>
            <a:off x="11228832" y="4663440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507992"/>
            <a:ext cx="46177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توجه به کیفیت، حجم و دوره به‌روزرسانی</a:t>
            </a:r>
            <a:endParaRPr lang="fa-IR" sz="1500" dirty="0"/>
          </a:p>
        </p:txBody>
      </p:sp>
      <p:sp>
        <p:nvSpPr>
          <p:cNvPr id="26" name="Shape 24"/>
          <p:cNvSpPr/>
          <p:nvPr/>
        </p:nvSpPr>
        <p:spPr>
          <a:xfrm>
            <a:off x="11228832" y="5193792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5038344"/>
            <a:ext cx="46177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استفاده از Gateway برای منابع داخلی</a:t>
            </a:r>
            <a:endParaRPr lang="fa-IR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/ 15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6547104"/>
            <a:ext cx="3986784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394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Query و آماده‌سازی داده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5394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مرحله‌ای که بیشترین اثر را روی کیفیت تحلیل دارد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9496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1691640"/>
            <a:ext cx="4983480" cy="4434840"/>
          </a:xfrm>
          <a:prstGeom prst="roundRect">
            <a:avLst>
              <a:gd name="adj" fmla="val 2062"/>
            </a:avLst>
          </a:prstGeom>
          <a:solidFill>
            <a:srgbClr val="102A4A">
              <a:alpha val="95000"/>
            </a:srgbClr>
          </a:solidFill>
          <a:ln w="12700">
            <a:solidFill>
              <a:srgbClr val="1D4D79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1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حذف خطاها</a:t>
            </a:r>
            <a:endParaRPr lang="fa-IR" sz="1150" dirty="0"/>
          </a:p>
        </p:txBody>
      </p:sp>
      <p:sp>
        <p:nvSpPr>
          <p:cNvPr id="7" name="Shape 5"/>
          <p:cNvSpPr/>
          <p:nvPr/>
        </p:nvSpPr>
        <p:spPr>
          <a:xfrm>
            <a:off x="6903720" y="2249424"/>
            <a:ext cx="2194560" cy="82296"/>
          </a:xfrm>
          <a:prstGeom prst="rect">
            <a:avLst/>
          </a:prstGeom>
          <a:solidFill>
            <a:srgbClr val="1D4D79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2249424"/>
            <a:ext cx="1931213" cy="82296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64040" y="2898648"/>
            <a:ext cx="1508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1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تغییر نوع داده</a:t>
            </a:r>
            <a:endParaRPr lang="fa-IR" sz="1150" dirty="0"/>
          </a:p>
        </p:txBody>
      </p:sp>
      <p:sp>
        <p:nvSpPr>
          <p:cNvPr id="10" name="Shape 8"/>
          <p:cNvSpPr/>
          <p:nvPr/>
        </p:nvSpPr>
        <p:spPr>
          <a:xfrm>
            <a:off x="6903720" y="2999232"/>
            <a:ext cx="2194560" cy="82296"/>
          </a:xfrm>
          <a:prstGeom prst="rect">
            <a:avLst/>
          </a:prstGeom>
          <a:solidFill>
            <a:srgbClr val="1D4D79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2999232"/>
            <a:ext cx="1580083" cy="82296"/>
          </a:xfrm>
          <a:prstGeom prst="rect">
            <a:avLst/>
          </a:prstGeom>
          <a:solidFill>
            <a:srgbClr val="F8C7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64040" y="3648456"/>
            <a:ext cx="1508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1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ادغام جدول‌ها</a:t>
            </a:r>
            <a:endParaRPr lang="fa-IR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3749040"/>
            <a:ext cx="2194560" cy="82296"/>
          </a:xfrm>
          <a:prstGeom prst="rect">
            <a:avLst/>
          </a:prstGeom>
          <a:solidFill>
            <a:srgbClr val="1D4D79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3749040"/>
            <a:ext cx="1404518" cy="82296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4398264"/>
            <a:ext cx="1508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1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 ستون جدید</a:t>
            </a:r>
            <a:endParaRPr lang="fa-IR" sz="1150" dirty="0"/>
          </a:p>
        </p:txBody>
      </p:sp>
      <p:sp>
        <p:nvSpPr>
          <p:cNvPr id="16" name="Shape 14"/>
          <p:cNvSpPr/>
          <p:nvPr/>
        </p:nvSpPr>
        <p:spPr>
          <a:xfrm>
            <a:off x="6903720" y="4498848"/>
            <a:ext cx="2194560" cy="82296"/>
          </a:xfrm>
          <a:prstGeom prst="rect">
            <a:avLst/>
          </a:prstGeom>
          <a:solidFill>
            <a:srgbClr val="1D4D79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4498848"/>
            <a:ext cx="1141171" cy="82296"/>
          </a:xfrm>
          <a:prstGeom prst="rect">
            <a:avLst/>
          </a:prstGeom>
          <a:solidFill>
            <a:srgbClr val="F8C7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96712" y="221284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057400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پاک‌سازی داده‌های ناقص یا تکراری</a:t>
            </a:r>
            <a:endParaRPr lang="fa-IR" sz="1600" dirty="0"/>
          </a:p>
        </p:txBody>
      </p:sp>
      <p:sp>
        <p:nvSpPr>
          <p:cNvPr id="20" name="Shape 18"/>
          <p:cNvSpPr/>
          <p:nvPr/>
        </p:nvSpPr>
        <p:spPr>
          <a:xfrm>
            <a:off x="5696712" y="2779776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624328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یکسان‌سازی قالب‌ها و نام ستون‌ها</a:t>
            </a:r>
            <a:endParaRPr lang="fa-IR" sz="1600" dirty="0"/>
          </a:p>
        </p:txBody>
      </p:sp>
      <p:sp>
        <p:nvSpPr>
          <p:cNvPr id="22" name="Shape 20"/>
          <p:cNvSpPr/>
          <p:nvPr/>
        </p:nvSpPr>
        <p:spPr>
          <a:xfrm>
            <a:off x="5696712" y="3346704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191256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ثبت مراحل تبدیل برای تکرارپذیری</a:t>
            </a:r>
            <a:endParaRPr lang="fa-IR" sz="1600" dirty="0"/>
          </a:p>
        </p:txBody>
      </p:sp>
      <p:sp>
        <p:nvSpPr>
          <p:cNvPr id="24" name="Shape 22"/>
          <p:cNvSpPr/>
          <p:nvPr/>
        </p:nvSpPr>
        <p:spPr>
          <a:xfrm>
            <a:off x="5696712" y="3913632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758184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آماده‌سازی داده برای مدل‌سازی دقیق</a:t>
            </a:r>
            <a:endParaRPr lang="fa-IR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 / 15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6547104"/>
            <a:ext cx="4651248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6520" y="502920"/>
            <a:ext cx="5074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مدل‌سازی داده و DAX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446520" y="1143000"/>
            <a:ext cx="5074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 خوب یعنی گزارش سریع، دقیق و قابل توسعه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446520" y="1600200"/>
            <a:ext cx="507492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1880616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102A4A">
              <a:alpha val="95000"/>
            </a:srgbClr>
          </a:solidFill>
          <a:ln w="12700">
            <a:solidFill>
              <a:srgbClr val="1D4D79">
                <a:alpha val="8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93392" y="2514600"/>
            <a:ext cx="10881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82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 Sales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1097280" y="393192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4069080"/>
            <a:ext cx="10881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82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 Date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788920" y="393192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4069080"/>
            <a:ext cx="10881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82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 Product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480560" y="393192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4069080"/>
            <a:ext cx="10881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82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 Customer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492240" y="1972056"/>
            <a:ext cx="4892040" cy="3200400"/>
          </a:xfrm>
          <a:prstGeom prst="roundRect">
            <a:avLst>
              <a:gd name="adj" fmla="val 2857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743200"/>
            <a:ext cx="4251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350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Growth % = DIVIDE([Sales] - [Sales LY], [Sales LY])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2280" y="3703320"/>
            <a:ext cx="42519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40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DAX زبان فرمول‌نویسی برای ساخت معیارهای تحلیلی است.</a:t>
            </a:r>
            <a:endParaRPr lang="fa-IR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 / 15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6547104"/>
            <a:ext cx="5315712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394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طراحی داشبورد مؤثر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5394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هدف داشبورد نمایش همه چیز نیست؛ نمایش چیزهای مهم است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9496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pic>
        <p:nvPicPr>
          <p:cNvPr id="5" name="Image 0" descr="/mnt/data/a_sleek_futuristic_digital_dashboard_data_visua.png"/>
          <p:cNvPicPr>
            <a:picLocks noChangeAspect="1"/>
          </p:cNvPicPr>
          <p:nvPr/>
        </p:nvPicPr>
        <p:blipFill>
          <a:blip r:embed="rId3"/>
          <a:srcRect l="16912" r="16912"/>
          <a:stretch/>
        </p:blipFill>
        <p:spPr>
          <a:xfrm>
            <a:off x="6400800" y="1719072"/>
            <a:ext cx="5074920" cy="4315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96712" y="221284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57400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اول KPIهای کلیدی را تعریف کنید</a:t>
            </a:r>
            <a:endParaRPr lang="fa-IR" sz="1600" dirty="0"/>
          </a:p>
        </p:txBody>
      </p:sp>
      <p:sp>
        <p:nvSpPr>
          <p:cNvPr id="8" name="Shape 5"/>
          <p:cNvSpPr/>
          <p:nvPr/>
        </p:nvSpPr>
        <p:spPr>
          <a:xfrm>
            <a:off x="5696712" y="2779776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624328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رنگ‌ها را محدود و معنادار نگه دارید</a:t>
            </a:r>
            <a:endParaRPr lang="fa-IR" sz="1600" dirty="0"/>
          </a:p>
        </p:txBody>
      </p:sp>
      <p:sp>
        <p:nvSpPr>
          <p:cNvPr id="10" name="Shape 7"/>
          <p:cNvSpPr/>
          <p:nvPr/>
        </p:nvSpPr>
        <p:spPr>
          <a:xfrm>
            <a:off x="5696712" y="3346704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191256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از فیلترهای واضح و قابل فهم استفاده کنید</a:t>
            </a:r>
            <a:endParaRPr lang="fa-IR" sz="1600" dirty="0"/>
          </a:p>
        </p:txBody>
      </p:sp>
      <p:sp>
        <p:nvSpPr>
          <p:cNvPr id="12" name="Shape 9"/>
          <p:cNvSpPr/>
          <p:nvPr/>
        </p:nvSpPr>
        <p:spPr>
          <a:xfrm>
            <a:off x="5696712" y="3913632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758184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جزئیات را در صفحات فرعی قرار دهید</a:t>
            </a:r>
            <a:endParaRPr lang="fa-IR" sz="16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 / 15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37360" y="6547104"/>
            <a:ext cx="5980176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6520" y="502920"/>
            <a:ext cx="5074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انتخاب مصورسازی مناسب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446520" y="1143000"/>
            <a:ext cx="5074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نوع نمودار باید با نوع سؤال تحلیلی هماهنگ باشد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446520" y="1600200"/>
            <a:ext cx="507492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39112"/>
            <a:ext cx="20574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300" b="1" dirty="0">
                <a:solidFill>
                  <a:srgbClr val="00D4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روند زمانی</a:t>
            </a:r>
            <a:endParaRPr lang="fa-IR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441448"/>
            <a:ext cx="20574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خطی</a:t>
            </a:r>
            <a:endParaRPr lang="fa-IR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187452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039112"/>
            <a:ext cx="20574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300" b="1" dirty="0">
                <a:solidFill>
                  <a:srgbClr val="F8C7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مقایسه مقدار</a:t>
            </a:r>
            <a:endParaRPr lang="fa-IR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2441448"/>
            <a:ext cx="20574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نمودار ستونی</a:t>
            </a:r>
            <a:endParaRPr lang="fa-IR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43E6A5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56432"/>
            <a:ext cx="20574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300" b="1" dirty="0">
                <a:solidFill>
                  <a:srgbClr val="43E6A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سهم از کل</a:t>
            </a:r>
            <a:endParaRPr lang="fa-IR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858768"/>
            <a:ext cx="20574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دایره‌ای/دونات</a:t>
            </a:r>
            <a:endParaRPr lang="fa-IR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329184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9F7AEA">
                <a:alpha val="8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3456432"/>
            <a:ext cx="20574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300" b="1" dirty="0">
                <a:solidFill>
                  <a:srgbClr val="9F7A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توزیع</a:t>
            </a:r>
            <a:endParaRPr lang="fa-IR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858768"/>
            <a:ext cx="20574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نقطه‌ای</a:t>
            </a:r>
            <a:endParaRPr lang="fa-IR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4892040" cy="4297680"/>
          </a:xfrm>
          <a:prstGeom prst="roundRect">
            <a:avLst>
              <a:gd name="adj" fmla="val 2128"/>
            </a:avLst>
          </a:prstGeom>
          <a:solidFill>
            <a:srgbClr val="102A4A">
              <a:alpha val="95000"/>
            </a:srgbClr>
          </a:solidFill>
          <a:ln w="12700">
            <a:solidFill>
              <a:srgbClr val="1D4D79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2286000"/>
            <a:ext cx="1051560" cy="2514600"/>
          </a:xfrm>
          <a:prstGeom prst="rect">
            <a:avLst/>
          </a:prstGeom>
          <a:solidFill>
            <a:srgbClr val="00D4FF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743200"/>
            <a:ext cx="1051560" cy="2057400"/>
          </a:xfrm>
          <a:prstGeom prst="rect">
            <a:avLst/>
          </a:prstGeom>
          <a:solidFill>
            <a:srgbClr val="F8C744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2011680"/>
            <a:ext cx="1051560" cy="2788920"/>
          </a:xfrm>
          <a:prstGeom prst="rect">
            <a:avLst/>
          </a:prstGeom>
          <a:solidFill>
            <a:srgbClr val="43E6A5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4892040"/>
            <a:ext cx="4069080" cy="0"/>
          </a:xfrm>
          <a:prstGeom prst="line">
            <a:avLst/>
          </a:prstGeom>
          <a:noFill/>
          <a:ln w="12700">
            <a:solidFill>
              <a:srgbClr val="6B8AAB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5257800"/>
            <a:ext cx="3840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20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نمونه مقایسه شاخص‌ها</a:t>
            </a:r>
            <a:endParaRPr lang="fa-IR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/ 15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6547104"/>
            <a:ext cx="664464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394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انتشار و اشتراک‌گذاری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5394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گزارش زمانی ارزشمند است که به مخاطب درست برسد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9496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1874520"/>
            <a:ext cx="2057400" cy="1024128"/>
          </a:xfrm>
          <a:prstGeom prst="roundRect">
            <a:avLst>
              <a:gd name="adj" fmla="val 8929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2048256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5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Workspace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29400" y="2450592"/>
            <a:ext cx="178308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2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محیط تیمی</a:t>
            </a:r>
            <a:endParaRPr lang="fa-IR" sz="1020" dirty="0"/>
          </a:p>
        </p:txBody>
      </p:sp>
      <p:sp>
        <p:nvSpPr>
          <p:cNvPr id="8" name="Shape 6"/>
          <p:cNvSpPr/>
          <p:nvPr/>
        </p:nvSpPr>
        <p:spPr>
          <a:xfrm>
            <a:off x="8869680" y="1874520"/>
            <a:ext cx="2057400" cy="1024128"/>
          </a:xfrm>
          <a:prstGeom prst="roundRect">
            <a:avLst>
              <a:gd name="adj" fmla="val 8929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06840" y="2048256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50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06840" y="2450592"/>
            <a:ext cx="178308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2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بسته گزارش</a:t>
            </a:r>
            <a:endParaRPr lang="fa-IR" sz="1020" dirty="0"/>
          </a:p>
        </p:txBody>
      </p:sp>
      <p:sp>
        <p:nvSpPr>
          <p:cNvPr id="11" name="Shape 9"/>
          <p:cNvSpPr/>
          <p:nvPr/>
        </p:nvSpPr>
        <p:spPr>
          <a:xfrm>
            <a:off x="6492240" y="3291840"/>
            <a:ext cx="2057400" cy="1024128"/>
          </a:xfrm>
          <a:prstGeom prst="roundRect">
            <a:avLst>
              <a:gd name="adj" fmla="val 8929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3465576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5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Refresh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3867912"/>
            <a:ext cx="178308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2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به‌روزرسانی</a:t>
            </a:r>
            <a:endParaRPr lang="fa-IR" sz="1020" dirty="0"/>
          </a:p>
        </p:txBody>
      </p:sp>
      <p:sp>
        <p:nvSpPr>
          <p:cNvPr id="14" name="Shape 12"/>
          <p:cNvSpPr/>
          <p:nvPr/>
        </p:nvSpPr>
        <p:spPr>
          <a:xfrm>
            <a:off x="8869680" y="3291840"/>
            <a:ext cx="2057400" cy="1024128"/>
          </a:xfrm>
          <a:prstGeom prst="roundRect">
            <a:avLst>
              <a:gd name="adj" fmla="val 8929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3465576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150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06840" y="3867912"/>
            <a:ext cx="178308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02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هشدار</a:t>
            </a:r>
            <a:endParaRPr lang="fa-IR" sz="1020" dirty="0"/>
          </a:p>
        </p:txBody>
      </p:sp>
      <p:sp>
        <p:nvSpPr>
          <p:cNvPr id="17" name="Shape 15"/>
          <p:cNvSpPr/>
          <p:nvPr/>
        </p:nvSpPr>
        <p:spPr>
          <a:xfrm>
            <a:off x="5696712" y="221284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057400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تعریف سطح دسترسی برای گروه‌ها</a:t>
            </a:r>
            <a:endParaRPr lang="fa-IR" sz="1600" dirty="0"/>
          </a:p>
        </p:txBody>
      </p:sp>
      <p:sp>
        <p:nvSpPr>
          <p:cNvPr id="19" name="Shape 17"/>
          <p:cNvSpPr/>
          <p:nvPr/>
        </p:nvSpPr>
        <p:spPr>
          <a:xfrm>
            <a:off x="5696712" y="2779776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624328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زمان‌بندی به‌روزرسانی داده‌ها</a:t>
            </a:r>
            <a:endParaRPr lang="fa-IR" sz="1600" dirty="0"/>
          </a:p>
        </p:txBody>
      </p:sp>
      <p:sp>
        <p:nvSpPr>
          <p:cNvPr id="21" name="Shape 19"/>
          <p:cNvSpPr/>
          <p:nvPr/>
        </p:nvSpPr>
        <p:spPr>
          <a:xfrm>
            <a:off x="5696712" y="3346704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191256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انتشار گزارش با نسخه کنترل‌شده</a:t>
            </a:r>
            <a:endParaRPr lang="fa-IR" sz="1600" dirty="0"/>
          </a:p>
        </p:txBody>
      </p:sp>
      <p:sp>
        <p:nvSpPr>
          <p:cNvPr id="23" name="Shape 21"/>
          <p:cNvSpPr/>
          <p:nvPr/>
        </p:nvSpPr>
        <p:spPr>
          <a:xfrm>
            <a:off x="5696712" y="3913632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758184"/>
            <a:ext cx="48006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استفاده از اپ برای تجربه منظم‌تر</a:t>
            </a:r>
            <a:endParaRPr lang="fa-IR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 / 15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6547104"/>
            <a:ext cx="7309104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6520" y="502920"/>
            <a:ext cx="5074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امنیت و حاکمیت داده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446520" y="1143000"/>
            <a:ext cx="5074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اعتماد به گزارش‌ها از کنترل دسترسی و کیفیت داده شروع می‌شود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446520" y="1600200"/>
            <a:ext cx="507492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pic>
        <p:nvPicPr>
          <p:cNvPr id="5" name="Image 0" descr="/mnt/data/a_high_detail_3d_isometric_cinematic_concept_illus.png"/>
          <p:cNvPicPr>
            <a:picLocks noChangeAspect="1"/>
          </p:cNvPicPr>
          <p:nvPr/>
        </p:nvPicPr>
        <p:blipFill>
          <a:blip r:embed="rId3"/>
          <a:srcRect l="16877" r="16877"/>
          <a:stretch/>
        </p:blipFill>
        <p:spPr>
          <a:xfrm>
            <a:off x="685800" y="1737360"/>
            <a:ext cx="516636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228832" y="221284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2057400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استفاده از Row-Level Security برای کنترل سطح ردیف</a:t>
            </a:r>
            <a:endParaRPr lang="fa-IR" sz="1550" dirty="0"/>
          </a:p>
        </p:txBody>
      </p:sp>
      <p:sp>
        <p:nvSpPr>
          <p:cNvPr id="8" name="Shape 5"/>
          <p:cNvSpPr/>
          <p:nvPr/>
        </p:nvSpPr>
        <p:spPr>
          <a:xfrm>
            <a:off x="11228832" y="2834640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2679192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مستندسازی مالکیت داده و گزارش‌ها</a:t>
            </a:r>
            <a:endParaRPr lang="fa-IR" sz="1550" dirty="0"/>
          </a:p>
        </p:txBody>
      </p:sp>
      <p:sp>
        <p:nvSpPr>
          <p:cNvPr id="10" name="Shape 7"/>
          <p:cNvSpPr/>
          <p:nvPr/>
        </p:nvSpPr>
        <p:spPr>
          <a:xfrm>
            <a:off x="11228832" y="3456432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3300984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مدیریت دسترسی در Workspace و App</a:t>
            </a:r>
            <a:endParaRPr lang="fa-IR" sz="1550" dirty="0"/>
          </a:p>
        </p:txBody>
      </p:sp>
      <p:sp>
        <p:nvSpPr>
          <p:cNvPr id="12" name="Shape 9"/>
          <p:cNvSpPr/>
          <p:nvPr/>
        </p:nvSpPr>
        <p:spPr>
          <a:xfrm>
            <a:off x="11228832" y="4078224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3922776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5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پایش استفاده و بهبود چرخه گزارش‌دهی</a:t>
            </a:r>
            <a:endParaRPr lang="fa-IR" sz="155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/ 15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37360" y="6547104"/>
            <a:ext cx="7973568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394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هوش مصنوعی در Power BI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5394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به کشف الگوها، توضیح داده‌ها و سرعت طراحی کمک می‌کند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9496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1737360"/>
            <a:ext cx="4983480" cy="4297680"/>
          </a:xfrm>
          <a:prstGeom prst="roundRect">
            <a:avLst>
              <a:gd name="adj" fmla="val 2128"/>
            </a:avLst>
          </a:prstGeom>
          <a:solidFill>
            <a:srgbClr val="102A4A">
              <a:alpha val="95000"/>
            </a:srgbClr>
          </a:solidFill>
          <a:ln w="12700">
            <a:solidFill>
              <a:srgbClr val="1D4D79">
                <a:alpha val="8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2148840"/>
            <a:ext cx="1572768" cy="822960"/>
          </a:xfrm>
          <a:prstGeom prst="roundRect">
            <a:avLst>
              <a:gd name="adj" fmla="val 1111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13448" y="2423160"/>
            <a:ext cx="1353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88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Insights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8823960" y="2148840"/>
            <a:ext cx="1572768" cy="822960"/>
          </a:xfrm>
          <a:prstGeom prst="roundRect">
            <a:avLst>
              <a:gd name="adj" fmla="val 1111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33688" y="2423160"/>
            <a:ext cx="1353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88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903720" y="3383280"/>
            <a:ext cx="1572768" cy="822960"/>
          </a:xfrm>
          <a:prstGeom prst="roundRect">
            <a:avLst>
              <a:gd name="adj" fmla="val 1111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3448" y="3657600"/>
            <a:ext cx="1353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88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Anomaly Detection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823960" y="3383280"/>
            <a:ext cx="1572768" cy="822960"/>
          </a:xfrm>
          <a:prstGeom prst="roundRect">
            <a:avLst>
              <a:gd name="adj" fmla="val 11111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33688" y="3657600"/>
            <a:ext cx="1353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880" b="1" dirty="0">
                <a:solidFill>
                  <a:srgbClr val="F8C7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Narrative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696712" y="216712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11680"/>
            <a:ext cx="480060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پرسش و پاسخ طبیعی روی داده‌ها</a:t>
            </a:r>
            <a:endParaRPr lang="fa-IR" sz="1600" dirty="0"/>
          </a:p>
        </p:txBody>
      </p:sp>
      <p:sp>
        <p:nvSpPr>
          <p:cNvPr id="16" name="Shape 14"/>
          <p:cNvSpPr/>
          <p:nvPr/>
        </p:nvSpPr>
        <p:spPr>
          <a:xfrm>
            <a:off x="5696712" y="2752344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96896"/>
            <a:ext cx="480060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تشخیص روندها و ناهنجاری‌ها</a:t>
            </a:r>
            <a:endParaRPr lang="fa-IR" sz="1600" dirty="0"/>
          </a:p>
        </p:txBody>
      </p:sp>
      <p:sp>
        <p:nvSpPr>
          <p:cNvPr id="18" name="Shape 16"/>
          <p:cNvSpPr/>
          <p:nvPr/>
        </p:nvSpPr>
        <p:spPr>
          <a:xfrm>
            <a:off x="5696712" y="3337560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182112"/>
            <a:ext cx="480060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تولید توضیح متنی برای نمودارها</a:t>
            </a:r>
            <a:endParaRPr lang="fa-IR" sz="1600" dirty="0"/>
          </a:p>
        </p:txBody>
      </p:sp>
      <p:sp>
        <p:nvSpPr>
          <p:cNvPr id="20" name="Shape 18"/>
          <p:cNvSpPr/>
          <p:nvPr/>
        </p:nvSpPr>
        <p:spPr>
          <a:xfrm>
            <a:off x="5696712" y="3922776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67328"/>
            <a:ext cx="4800600" cy="5577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6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کمک به تحلیل سریع‌تر برای کاربران غیر فنی</a:t>
            </a:r>
            <a:endParaRPr lang="fa-IR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 / 15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37360" y="6547104"/>
            <a:ext cx="8638032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6520" y="502920"/>
            <a:ext cx="5074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800" b="1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مسیر یادگیری پیشنهادی</a:t>
            </a:r>
            <a:endParaRPr lang="fa-IR" sz="2800" dirty="0"/>
          </a:p>
        </p:txBody>
      </p:sp>
      <p:sp>
        <p:nvSpPr>
          <p:cNvPr id="3" name="Text 1"/>
          <p:cNvSpPr/>
          <p:nvPr/>
        </p:nvSpPr>
        <p:spPr>
          <a:xfrm>
            <a:off x="6446520" y="1143000"/>
            <a:ext cx="5074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2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از مفاهیم پایه شروع کنید و سپس پروژه واقعی بسازید</a:t>
            </a:r>
            <a:endParaRPr lang="fa-IR" sz="1250" dirty="0"/>
          </a:p>
        </p:txBody>
      </p:sp>
      <p:sp>
        <p:nvSpPr>
          <p:cNvPr id="4" name="Shape 2"/>
          <p:cNvSpPr/>
          <p:nvPr/>
        </p:nvSpPr>
        <p:spPr>
          <a:xfrm>
            <a:off x="6446520" y="1600200"/>
            <a:ext cx="507492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542032"/>
            <a:ext cx="5029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b="1" dirty="0">
                <a:solidFill>
                  <a:srgbClr val="00D4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</a:t>
            </a:r>
            <a:endParaRPr lang="fa-IR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مبانی داده و اکسل</a:t>
            </a:r>
            <a:endParaRPr lang="fa-IR" sz="950" dirty="0"/>
          </a:p>
        </p:txBody>
      </p:sp>
      <p:sp>
        <p:nvSpPr>
          <p:cNvPr id="8" name="Shape 6"/>
          <p:cNvSpPr/>
          <p:nvPr/>
        </p:nvSpPr>
        <p:spPr>
          <a:xfrm>
            <a:off x="2240280" y="2953512"/>
            <a:ext cx="347472" cy="0"/>
          </a:xfrm>
          <a:prstGeom prst="line">
            <a:avLst/>
          </a:prstGeom>
          <a:noFill/>
          <a:ln w="12700">
            <a:solidFill>
              <a:srgbClr val="6B8A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24231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2542032"/>
            <a:ext cx="5029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b="1" dirty="0">
                <a:solidFill>
                  <a:srgbClr val="F8C7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</a:t>
            </a:r>
            <a:endParaRPr lang="fa-IR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Query</a:t>
            </a:r>
            <a:endParaRPr lang="fa-IR" sz="950" dirty="0"/>
          </a:p>
        </p:txBody>
      </p:sp>
      <p:sp>
        <p:nvSpPr>
          <p:cNvPr id="12" name="Shape 10"/>
          <p:cNvSpPr/>
          <p:nvPr/>
        </p:nvSpPr>
        <p:spPr>
          <a:xfrm>
            <a:off x="4023360" y="2953512"/>
            <a:ext cx="347472" cy="0"/>
          </a:xfrm>
          <a:prstGeom prst="line">
            <a:avLst/>
          </a:prstGeom>
          <a:noFill/>
          <a:ln w="12700">
            <a:solidFill>
              <a:srgbClr val="6B8AA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24231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542032"/>
            <a:ext cx="5029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b="1" dirty="0">
                <a:solidFill>
                  <a:srgbClr val="00D4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</a:t>
            </a:r>
            <a:endParaRPr lang="fa-IR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 ستاره‌ای</a:t>
            </a:r>
            <a:endParaRPr lang="fa-IR" sz="950" dirty="0"/>
          </a:p>
        </p:txBody>
      </p:sp>
      <p:sp>
        <p:nvSpPr>
          <p:cNvPr id="16" name="Shape 14"/>
          <p:cNvSpPr/>
          <p:nvPr/>
        </p:nvSpPr>
        <p:spPr>
          <a:xfrm>
            <a:off x="5806440" y="2953512"/>
            <a:ext cx="347472" cy="0"/>
          </a:xfrm>
          <a:prstGeom prst="line">
            <a:avLst/>
          </a:prstGeom>
          <a:noFill/>
          <a:ln w="12700">
            <a:solidFill>
              <a:srgbClr val="6B8AA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72200" y="24231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2542032"/>
            <a:ext cx="5029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b="1" dirty="0">
                <a:solidFill>
                  <a:srgbClr val="F8C7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۴</a:t>
            </a:r>
            <a:endParaRPr lang="fa-IR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DAX پایه</a:t>
            </a:r>
            <a:endParaRPr lang="fa-IR" sz="950" dirty="0"/>
          </a:p>
        </p:txBody>
      </p:sp>
      <p:sp>
        <p:nvSpPr>
          <p:cNvPr id="20" name="Shape 18"/>
          <p:cNvSpPr/>
          <p:nvPr/>
        </p:nvSpPr>
        <p:spPr>
          <a:xfrm>
            <a:off x="7589520" y="2953512"/>
            <a:ext cx="347472" cy="0"/>
          </a:xfrm>
          <a:prstGeom prst="line">
            <a:avLst/>
          </a:prstGeom>
          <a:noFill/>
          <a:ln w="12700">
            <a:solidFill>
              <a:srgbClr val="6B8AA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55280" y="24231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542032"/>
            <a:ext cx="5029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b="1" dirty="0">
                <a:solidFill>
                  <a:srgbClr val="00D4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۵</a:t>
            </a:r>
            <a:endParaRPr lang="fa-IR" sz="1800" dirty="0"/>
          </a:p>
        </p:txBody>
      </p:sp>
      <p:sp>
        <p:nvSpPr>
          <p:cNvPr id="23" name="Text 21"/>
          <p:cNvSpPr/>
          <p:nvPr/>
        </p:nvSpPr>
        <p:spPr>
          <a:xfrm>
            <a:off x="809244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طراحی داشبورد</a:t>
            </a:r>
            <a:endParaRPr lang="fa-IR" sz="950" dirty="0"/>
          </a:p>
        </p:txBody>
      </p:sp>
      <p:sp>
        <p:nvSpPr>
          <p:cNvPr id="24" name="Shape 22"/>
          <p:cNvSpPr/>
          <p:nvPr/>
        </p:nvSpPr>
        <p:spPr>
          <a:xfrm>
            <a:off x="9372600" y="2953512"/>
            <a:ext cx="347472" cy="0"/>
          </a:xfrm>
          <a:prstGeom prst="line">
            <a:avLst/>
          </a:prstGeom>
          <a:noFill/>
          <a:ln w="12700">
            <a:solidFill>
              <a:srgbClr val="6B8AA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38360" y="24231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8C744">
                <a:alpha val="8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77272" y="2542032"/>
            <a:ext cx="5029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b="1" dirty="0">
                <a:solidFill>
                  <a:srgbClr val="F8C7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۶</a:t>
            </a:r>
            <a:endParaRPr lang="fa-IR" sz="1800" dirty="0"/>
          </a:p>
        </p:txBody>
      </p:sp>
      <p:sp>
        <p:nvSpPr>
          <p:cNvPr id="27" name="Text 25"/>
          <p:cNvSpPr/>
          <p:nvPr/>
        </p:nvSpPr>
        <p:spPr>
          <a:xfrm>
            <a:off x="987552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950" dirty="0">
                <a:solidFill>
                  <a:srgbClr val="BBD1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انتشار و امنیت</a:t>
            </a:r>
            <a:endParaRPr lang="fa-IR" sz="950" dirty="0"/>
          </a:p>
        </p:txBody>
      </p:sp>
      <p:sp>
        <p:nvSpPr>
          <p:cNvPr id="28" name="Text 26"/>
          <p:cNvSpPr/>
          <p:nvPr/>
        </p:nvSpPr>
        <p:spPr>
          <a:xfrm>
            <a:off x="1188720" y="4754880"/>
            <a:ext cx="9784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پیشنهاد: یک پروژه کوچک فروش یا منابع انسانی را از ابتدا تا انتشار کامل اجرا کنید.</a:t>
            </a:r>
            <a:endParaRPr lang="fa-IR" sz="180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 / 15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7360" y="6547104"/>
            <a:ext cx="9302496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ultra_high_tech_control_room.png"/>
          <p:cNvPicPr>
            <a:picLocks noChangeAspect="1"/>
          </p:cNvPicPr>
          <p:nvPr/>
        </p:nvPicPr>
        <p:blipFill>
          <a:blip r:embed="rId3"/>
          <a:srcRect l="22105" r="22105"/>
          <a:stretch/>
        </p:blipFill>
        <p:spPr>
          <a:xfrm>
            <a:off x="685800" y="914400"/>
            <a:ext cx="5212080" cy="5257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1143000"/>
            <a:ext cx="5074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3200" b="1" dirty="0">
                <a:solidFill>
                  <a:srgbClr val="F8C7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جمع‌بندی</a:t>
            </a:r>
            <a:endParaRPr lang="fa-IR" sz="3200" dirty="0"/>
          </a:p>
        </p:txBody>
      </p:sp>
      <p:sp>
        <p:nvSpPr>
          <p:cNvPr id="4" name="Text 1"/>
          <p:cNvSpPr/>
          <p:nvPr/>
        </p:nvSpPr>
        <p:spPr>
          <a:xfrm>
            <a:off x="6400800" y="2057400"/>
            <a:ext cx="48920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8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BI زمانی بیشترین ارزش را ایجاد می‌کند که داده تمیز، مدل درست و طراحی ساده در کنار هم قرار بگیرند.</a:t>
            </a:r>
            <a:endParaRPr lang="fa-IR" sz="1800" dirty="0"/>
          </a:p>
        </p:txBody>
      </p:sp>
      <p:sp>
        <p:nvSpPr>
          <p:cNvPr id="5" name="Shape 2"/>
          <p:cNvSpPr/>
          <p:nvPr/>
        </p:nvSpPr>
        <p:spPr>
          <a:xfrm>
            <a:off x="11091672" y="381304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3657600"/>
            <a:ext cx="46177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از سؤال تجاری شروع کنید</a:t>
            </a:r>
            <a:endParaRPr lang="fa-IR" sz="1500" dirty="0"/>
          </a:p>
        </p:txBody>
      </p:sp>
      <p:sp>
        <p:nvSpPr>
          <p:cNvPr id="7" name="Shape 4"/>
          <p:cNvSpPr/>
          <p:nvPr/>
        </p:nvSpPr>
        <p:spPr>
          <a:xfrm>
            <a:off x="11091672" y="4315968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4160520"/>
            <a:ext cx="46177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 داده را ساده و شفاف نگه دارید</a:t>
            </a:r>
            <a:endParaRPr lang="fa-IR" sz="1500" dirty="0"/>
          </a:p>
        </p:txBody>
      </p:sp>
      <p:sp>
        <p:nvSpPr>
          <p:cNvPr id="9" name="Shape 6"/>
          <p:cNvSpPr/>
          <p:nvPr/>
        </p:nvSpPr>
        <p:spPr>
          <a:xfrm>
            <a:off x="11091672" y="481888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4663440"/>
            <a:ext cx="46177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گزارش را برای مخاطب نهایی طراحی کنید</a:t>
            </a:r>
            <a:endParaRPr lang="fa-IR" sz="1500" dirty="0"/>
          </a:p>
        </p:txBody>
      </p:sp>
      <p:sp>
        <p:nvSpPr>
          <p:cNvPr id="11" name="Shape 8"/>
          <p:cNvSpPr/>
          <p:nvPr/>
        </p:nvSpPr>
        <p:spPr>
          <a:xfrm>
            <a:off x="11091672" y="5321808"/>
            <a:ext cx="82296" cy="82296"/>
          </a:xfrm>
          <a:prstGeom prst="ellipse">
            <a:avLst/>
          </a:prstGeom>
          <a:solidFill>
            <a:srgbClr val="F8C744"/>
          </a:solidFill>
          <a:ln w="12700">
            <a:solidFill>
              <a:srgbClr val="F8C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5166360"/>
            <a:ext cx="46177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00" dirty="0">
                <a:solidFill>
                  <a:srgbClr val="F8FA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امنیت و به‌روزرسانی را فراموش نکنید</a:t>
            </a:r>
            <a:endParaRPr lang="fa-IR" sz="1500" dirty="0"/>
          </a:p>
        </p:txBody>
      </p:sp>
      <p:sp>
        <p:nvSpPr>
          <p:cNvPr id="13" name="Text 10"/>
          <p:cNvSpPr/>
          <p:nvPr/>
        </p:nvSpPr>
        <p:spPr>
          <a:xfrm>
            <a:off x="6400800" y="5715000"/>
            <a:ext cx="48920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b="1" dirty="0">
                <a:solidFill>
                  <a:srgbClr val="00D4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پایان</a:t>
            </a:r>
            <a:endParaRPr lang="fa-IR" sz="18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750" dirty="0">
                <a:solidFill>
                  <a:srgbClr val="6B8AA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 / 15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1D4D79">
                <a:alpha val="7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37360" y="6547104"/>
            <a:ext cx="9966960" cy="0"/>
          </a:xfrm>
          <a:prstGeom prst="line">
            <a:avLst/>
          </a:prstGeom>
          <a:noFill/>
          <a:ln w="12700">
            <a:solidFill>
              <a:srgbClr val="F8C744">
                <a:alpha val="92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722</Words>
  <Application>Microsoft Office PowerPoint</Application>
  <PresentationFormat>Widescreen</PresentationFormat>
  <Paragraphs>189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 Display</vt:lpstr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- ارائه فارسی</dc:title>
  <dc:subject>Power BI Persian Presentation</dc:subject>
  <dc:creator>OpenAI</dc:creator>
  <cp:lastModifiedBy>amir</cp:lastModifiedBy>
  <cp:revision>2</cp:revision>
  <dcterms:created xsi:type="dcterms:W3CDTF">2026-05-30T20:00:43Z</dcterms:created>
  <dcterms:modified xsi:type="dcterms:W3CDTF">2026-05-30T20:21:17Z</dcterms:modified>
</cp:coreProperties>
</file>