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78" r:id="rId5"/>
    <p:sldId id="279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>
        <p:scale>
          <a:sx n="75" d="100"/>
          <a:sy n="75" d="100"/>
        </p:scale>
        <p:origin x="1950" y="8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759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55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861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9928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636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837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318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242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494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1026543"/>
          </a:xfrm>
        </p:spPr>
        <p:txBody>
          <a:bodyPr>
            <a:normAutofit/>
          </a:bodyPr>
          <a:lstStyle/>
          <a:p>
            <a:pPr algn="r" rtl="1"/>
            <a:r>
              <a:rPr lang="ar-SA" sz="1200" b="1" dirty="0"/>
              <a:t>یادگیری عمیق در علوم داده زیست‌پزشکی</a:t>
            </a:r>
            <a:br>
              <a:rPr lang="ar-SA" sz="1200" dirty="0"/>
            </a:br>
            <a:r>
              <a:rPr lang="en-US" sz="1200" i="1" dirty="0"/>
              <a:t>(Deep Learning in Biomedical Data Science)</a:t>
            </a:r>
            <a:br>
              <a:rPr lang="en-US" sz="1200" dirty="0"/>
            </a:br>
            <a:r>
              <a:rPr lang="ar-SA" sz="1200" dirty="0"/>
              <a:t>نویسنده: </a:t>
            </a:r>
            <a:r>
              <a:rPr lang="en-US" sz="1200" b="1" dirty="0"/>
              <a:t>Pierre Baldi – </a:t>
            </a:r>
            <a:r>
              <a:rPr lang="ar-SA" sz="1200" b="1" dirty="0"/>
              <a:t>دانشگاه کالیفرنیا، ارواین (2018)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4" y="4030824"/>
            <a:ext cx="3610827" cy="1153653"/>
          </a:xfrm>
        </p:spPr>
        <p:txBody>
          <a:bodyPr>
            <a:normAutofit/>
          </a:bodyPr>
          <a:lstStyle/>
          <a:p>
            <a:pPr algn="l"/>
            <a:r>
              <a:rPr lang="ar-SA" sz="1600" dirty="0"/>
              <a:t>موضوع ارائه: </a:t>
            </a:r>
            <a:r>
              <a:rPr lang="ar-SA" sz="1800" dirty="0"/>
              <a:t>بررسی کاربردهای یادگیری عمیق در تحلیل داده‌های زیستی و پزشکی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690880"/>
          </a:xfrm>
        </p:spPr>
        <p:txBody>
          <a:bodyPr anchor="b">
            <a:normAutofit/>
          </a:bodyPr>
          <a:lstStyle/>
          <a:p>
            <a:r>
              <a:rPr lang="ar-SA" sz="2800" b="1" dirty="0">
                <a:cs typeface="B Titr" panose="00000700000000000000" pitchFamily="2" charset="-78"/>
              </a:rPr>
              <a:t>یادگیری عمیق چیست؟</a:t>
            </a:r>
            <a:endParaRPr lang="en-US" sz="2800" b="1" dirty="0">
              <a:cs typeface="B Titr" panose="00000700000000000000" pitchFamily="2" charset="-78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2" y="1732449"/>
            <a:ext cx="4966387" cy="4058751"/>
          </a:xfrm>
        </p:spPr>
        <p:txBody>
          <a:bodyPr anchor="t">
            <a:norm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یادگیری عمیق همان </a:t>
            </a:r>
            <a:r>
              <a:rPr lang="ar-SA" sz="2000" b="1" dirty="0">
                <a:cs typeface="B Nazanin" panose="00000400000000000000" pitchFamily="2" charset="-78"/>
              </a:rPr>
              <a:t>شبکه‌های عصبی پیشرفته</a:t>
            </a:r>
            <a:r>
              <a:rPr lang="ar-SA" sz="2000" dirty="0">
                <a:cs typeface="B Nazanin" panose="00000400000000000000" pitchFamily="2" charset="-78"/>
              </a:rPr>
              <a:t> است.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این سیستم‌ها با دیدن داده‌ها یاد می‌گیرند، مثل مغز انسان.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رشد این حوزه به خاطر دو عامل مهم است:</a:t>
            </a:r>
          </a:p>
          <a:p>
            <a:pPr marL="457200" lvl="1" indent="0" algn="r" rtl="1">
              <a:buNone/>
            </a:pPr>
            <a:r>
              <a:rPr lang="fa-IR" sz="1800" dirty="0">
                <a:cs typeface="B Nazanin" panose="00000400000000000000" pitchFamily="2" charset="-78"/>
              </a:rPr>
              <a:t>1-</a:t>
            </a:r>
            <a:r>
              <a:rPr lang="ar-SA" sz="1800" dirty="0">
                <a:cs typeface="B Nazanin" panose="00000400000000000000" pitchFamily="2" charset="-78"/>
              </a:rPr>
              <a:t>زیاد شدن داده‌ها </a:t>
            </a:r>
            <a:r>
              <a:rPr lang="en-US" sz="1800" dirty="0">
                <a:cs typeface="B Nazanin" panose="00000400000000000000" pitchFamily="2" charset="-78"/>
              </a:rPr>
              <a:t>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en-US" sz="1800" dirty="0">
                <a:cs typeface="B Nazanin" panose="00000400000000000000" pitchFamily="2" charset="-78"/>
              </a:rPr>
              <a:t>)</a:t>
            </a:r>
          </a:p>
          <a:p>
            <a:pPr marL="457200" lvl="1" indent="0" algn="r" rtl="1">
              <a:buNone/>
            </a:pPr>
            <a:r>
              <a:rPr lang="fa-IR" sz="1800" dirty="0">
                <a:cs typeface="B Nazanin" panose="00000400000000000000" pitchFamily="2" charset="-78"/>
              </a:rPr>
              <a:t>2-</a:t>
            </a:r>
            <a:r>
              <a:rPr lang="ar-SA" sz="1800" dirty="0">
                <a:cs typeface="B Nazanin" panose="00000400000000000000" pitchFamily="2" charset="-78"/>
              </a:rPr>
              <a:t>افزایش قدرت کامپیوترها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en-US" sz="1800" dirty="0">
                <a:cs typeface="B Nazanin" panose="00000400000000000000" pitchFamily="2" charset="-78"/>
              </a:rPr>
              <a:t> </a:t>
            </a:r>
            <a:r>
              <a:rPr lang="ar-SA" sz="1800" dirty="0">
                <a:cs typeface="B Nazanin" panose="00000400000000000000" pitchFamily="2" charset="-78"/>
              </a:rPr>
              <a:t>و </a:t>
            </a:r>
            <a:r>
              <a:rPr lang="en-US" sz="1800" dirty="0">
                <a:cs typeface="B Nazanin" panose="00000400000000000000" pitchFamily="2" charset="-78"/>
              </a:rPr>
              <a:t>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از یادگیری عمیق در بینایی ماشین، گفتار، و حالا در پزشکی استفاده می‌شود.</a:t>
            </a:r>
          </a:p>
          <a:p>
            <a:pPr marL="36900" indent="0" algn="r" rtl="1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690880"/>
          </a:xfrm>
        </p:spPr>
        <p:txBody>
          <a:bodyPr anchor="b">
            <a:normAutofit/>
          </a:bodyPr>
          <a:lstStyle/>
          <a:p>
            <a:r>
              <a:rPr lang="ar-SA" sz="2800" b="1" dirty="0">
                <a:cs typeface="B Titr" panose="00000700000000000000" pitchFamily="2" charset="-78"/>
              </a:rPr>
              <a:t>داده‌های زیست‌پزشکی</a:t>
            </a:r>
            <a:endParaRPr lang="en-US" sz="2800" b="1" dirty="0">
              <a:cs typeface="B Titr" panose="00000700000000000000" pitchFamily="2" charset="-7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19D78DD-458E-B86E-B23D-2B4C1AE96D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1" y="2022645"/>
            <a:ext cx="547624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داده‌های زیست‌پزشکی بسیار متنوع و پیچیده‌اند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lang="en-US" altLang="en-US" sz="18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انواع داده‌ها شامل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377100" lvl="1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داده‌های ژنتیکی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)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RNA</a:t>
            </a:r>
          </a:p>
          <a:p>
            <a:pPr marL="377100" lvl="1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داده‌های پروتئینی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377100" lvl="1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تصاویر پزشکی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)،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عکس پوست و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(….</a:t>
            </a:r>
          </a:p>
          <a:p>
            <a:pPr marL="377100" lvl="1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پرونده‌های الکترونیکی بیماران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(Electronic Medical Records)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چالش‌ها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377100" lvl="1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 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کیفیت پایین بعضی داده‌ها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377100" lvl="1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کمبود داده‌های برچسب‌خورده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377100" lvl="1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نگرانی‌های مربوط به حریم خصوصی بیماران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072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690880"/>
          </a:xfrm>
        </p:spPr>
        <p:txBody>
          <a:bodyPr anchor="b">
            <a:normAutofit/>
          </a:bodyPr>
          <a:lstStyle/>
          <a:p>
            <a:r>
              <a:rPr lang="ar-SA" sz="2800" b="1" dirty="0">
                <a:cs typeface="B Titr" panose="00000700000000000000" pitchFamily="2" charset="-78"/>
              </a:rPr>
              <a:t>شبکه‌های عصبی و روش‌ها</a:t>
            </a:r>
            <a:endParaRPr lang="en-US" sz="2800" b="1" dirty="0">
              <a:cs typeface="B Titr" panose="00000700000000000000" pitchFamily="2" charset="-78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D7A4E-9BAA-1063-E59C-A5FE398FE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57025" y="2732408"/>
            <a:ext cx="5559056" cy="297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sz="1800" dirty="0">
                <a:cs typeface="B Nazanin" panose="00000400000000000000" pitchFamily="2" charset="-78"/>
              </a:rPr>
              <a:t>یادگیری عمیق با </a:t>
            </a:r>
            <a:r>
              <a:rPr lang="ar-SA" sz="1800" b="1" dirty="0">
                <a:cs typeface="B Nazanin" panose="00000400000000000000" pitchFamily="2" charset="-78"/>
              </a:rPr>
              <a:t>شبکه‌های عصبی مصنوعی</a:t>
            </a:r>
            <a:r>
              <a:rPr lang="ar-SA" sz="1800" dirty="0">
                <a:cs typeface="B Nazanin" panose="00000400000000000000" pitchFamily="2" charset="-78"/>
              </a:rPr>
              <a:t> انجام می‌شود.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sz="1600" dirty="0">
                <a:cs typeface="B Nazanin" panose="00000400000000000000" pitchFamily="2" charset="-78"/>
              </a:rPr>
              <a:t>انواع شبکه‌ها:</a:t>
            </a:r>
          </a:p>
          <a:p>
            <a:pPr marL="1048950" lvl="2" indent="-285750" algn="r" rtl="1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r>
              <a:rPr lang="en-US" sz="1500" b="1" dirty="0">
                <a:cs typeface="B Nazanin" panose="00000400000000000000" pitchFamily="2" charset="-78"/>
              </a:rPr>
              <a:t>(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Convolutional)</a:t>
            </a:r>
            <a:r>
              <a:rPr lang="fa-IR" sz="1500" b="1" dirty="0">
                <a:cs typeface="B Nazanin" panose="00000400000000000000" pitchFamily="2" charset="-78"/>
              </a:rPr>
              <a:t>:</a:t>
            </a:r>
            <a:r>
              <a:rPr lang="ar-SA" sz="1500" dirty="0">
                <a:cs typeface="B Nazanin" panose="00000400000000000000" pitchFamily="2" charset="-78"/>
              </a:rPr>
              <a:t>مخصوص تصاویر</a:t>
            </a:r>
          </a:p>
          <a:p>
            <a:pPr marL="1048950" lvl="2" indent="-285750" algn="r" rtl="1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/ LSTM</a:t>
            </a:r>
            <a:r>
              <a:rPr lang="fa-IR" sz="1500" b="1" dirty="0">
                <a:cs typeface="B Nazanin" panose="00000400000000000000" pitchFamily="2" charset="-78"/>
              </a:rPr>
              <a:t>:</a:t>
            </a:r>
            <a:r>
              <a:rPr lang="ar-SA" sz="1500" dirty="0">
                <a:cs typeface="B Nazanin" panose="00000400000000000000" pitchFamily="2" charset="-78"/>
              </a:rPr>
              <a:t>مخصوص داده‌های ترتیبی مثل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lang="en-US" sz="1500" dirty="0">
                <a:cs typeface="B Nazanin" panose="00000400000000000000" pitchFamily="2" charset="-78"/>
              </a:rPr>
              <a:t> </a:t>
            </a:r>
            <a:r>
              <a:rPr lang="ar-SA" sz="1500" dirty="0">
                <a:cs typeface="B Nazanin" panose="00000400000000000000" pitchFamily="2" charset="-78"/>
              </a:rPr>
              <a:t>یا متن</a:t>
            </a:r>
          </a:p>
          <a:p>
            <a:pPr marL="1048950" lvl="2" indent="-285750" algn="r" rtl="1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</a:t>
            </a:r>
            <a:r>
              <a:rPr lang="fa-IR" sz="1500" b="1" dirty="0">
                <a:cs typeface="B Nazanin" panose="00000400000000000000" pitchFamily="2" charset="-78"/>
              </a:rPr>
              <a:t>:</a:t>
            </a:r>
            <a:r>
              <a:rPr lang="en-US" sz="1500" dirty="0">
                <a:cs typeface="B Nazanin" panose="00000400000000000000" pitchFamily="2" charset="-78"/>
              </a:rPr>
              <a:t> </a:t>
            </a:r>
            <a:r>
              <a:rPr lang="ar-SA" sz="1500" dirty="0">
                <a:cs typeface="B Nazanin" panose="00000400000000000000" pitchFamily="2" charset="-78"/>
              </a:rPr>
              <a:t>برای کاهش ابعاد و فشرده‌سازی</a:t>
            </a:r>
          </a:p>
          <a:p>
            <a:pPr marL="1048950" lvl="2" indent="-285750" algn="r" rtl="1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Siamese Networks</a:t>
            </a:r>
            <a:r>
              <a:rPr lang="fa-IR" sz="1500" b="1" dirty="0">
                <a:cs typeface="B Nazanin" panose="00000400000000000000" pitchFamily="2" charset="-78"/>
              </a:rPr>
              <a:t>:</a:t>
            </a:r>
            <a:r>
              <a:rPr lang="en-US" sz="1500" dirty="0">
                <a:cs typeface="B Nazanin" panose="00000400000000000000" pitchFamily="2" charset="-78"/>
              </a:rPr>
              <a:t> </a:t>
            </a:r>
            <a:r>
              <a:rPr lang="ar-SA" sz="1500" dirty="0">
                <a:cs typeface="B Nazanin" panose="00000400000000000000" pitchFamily="2" charset="-78"/>
              </a:rPr>
              <a:t>برای مقایسه شباهت دو ورودی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800" dirty="0">
                <a:cs typeface="B Nazanin" panose="00000400000000000000" pitchFamily="2" charset="-78"/>
              </a:rPr>
              <a:t>الگوریتم اصلی</a:t>
            </a:r>
            <a:r>
              <a:rPr lang="fa-IR" sz="1800" dirty="0">
                <a:cs typeface="B Nazanin" panose="00000400000000000000" pitchFamily="2" charset="-78"/>
              </a:rPr>
              <a:t>:</a:t>
            </a:r>
            <a:r>
              <a:rPr lang="ar-SA" sz="1800" dirty="0">
                <a:cs typeface="B Nazanin" panose="00000400000000000000" pitchFamily="2" charset="-78"/>
              </a:rPr>
              <a:t> </a:t>
            </a:r>
            <a:r>
              <a:rPr lang="en-US" sz="1800" dirty="0">
                <a:cs typeface="B Nazanin" panose="00000400000000000000" pitchFamily="2" charset="-78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  <a:r>
              <a:rPr lang="en-US" sz="1800" dirty="0">
                <a:cs typeface="B Nazanin" panose="00000400000000000000" pitchFamily="2" charset="-78"/>
              </a:rPr>
              <a:t> </a:t>
            </a:r>
            <a:r>
              <a:rPr lang="ar-SA" sz="1800" dirty="0">
                <a:cs typeface="B Nazanin" panose="00000400000000000000" pitchFamily="2" charset="-78"/>
              </a:rPr>
              <a:t>تنظیم وزن‌ها با محاسبه خطا)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58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025" y="457200"/>
            <a:ext cx="5934973" cy="833120"/>
          </a:xfrm>
        </p:spPr>
        <p:txBody>
          <a:bodyPr anchor="b">
            <a:normAutofit fontScale="90000"/>
          </a:bodyPr>
          <a:lstStyle/>
          <a:p>
            <a:pPr algn="l" rtl="1"/>
            <a:r>
              <a:rPr lang="ar-SA" sz="2800" b="1" dirty="0">
                <a:cs typeface="B Titr" panose="00000700000000000000" pitchFamily="2" charset="-78"/>
              </a:rPr>
              <a:t>کاربرد ۱</a:t>
            </a:r>
            <a:r>
              <a:rPr lang="fa-IR" sz="2800" b="1" dirty="0">
                <a:cs typeface="B Titr" panose="00000700000000000000" pitchFamily="2" charset="-78"/>
              </a:rPr>
              <a:t>:</a:t>
            </a:r>
            <a:r>
              <a:rPr lang="ar-SA" sz="2800" b="1" dirty="0">
                <a:cs typeface="B Titr" panose="00000700000000000000" pitchFamily="2" charset="-78"/>
              </a:rPr>
              <a:t> شیمی‌اطلاعات </a:t>
            </a:r>
            <a:r>
              <a:rPr lang="en-US" sz="2800" b="1" dirty="0">
                <a:cs typeface="B Titr" panose="00000700000000000000" pitchFamily="2" charset="-78"/>
              </a:rPr>
              <a:t>(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Chemoinformatics</a:t>
            </a:r>
            <a:r>
              <a:rPr lang="en-US" sz="2800" b="1" dirty="0">
                <a:cs typeface="B Titr" panose="00000700000000000000" pitchFamily="2" charset="-78"/>
              </a:rPr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D7A4E-9BAA-1063-E59C-A5FE398FE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5745" y="2524279"/>
            <a:ext cx="5934973" cy="237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استفاده برای پیش‌بینی ویژگی‌های مواد شیمیایی: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حلالیت، سمیت، نقطه ذوب، واکنش‌پذیری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طراحی و کشف داروهای جدید با مدل‌های یادگیری عمیق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چالش اصلی: کمبود داده‌های شیمیایی دقیق و قابل‌دسترسی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3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040" y="404586"/>
            <a:ext cx="4895577" cy="690880"/>
          </a:xfrm>
        </p:spPr>
        <p:txBody>
          <a:bodyPr anchor="b">
            <a:normAutofit/>
          </a:bodyPr>
          <a:lstStyle/>
          <a:p>
            <a:pPr algn="r" rtl="1"/>
            <a:r>
              <a:rPr lang="ar-SA" sz="2800" b="1" dirty="0">
                <a:cs typeface="B Titr" panose="00000700000000000000" pitchFamily="2" charset="-78"/>
              </a:rPr>
              <a:t>کاربرد ۲: پروتئین‌ها </a:t>
            </a:r>
            <a:r>
              <a:rPr lang="en-US" sz="2800" b="1" dirty="0">
                <a:cs typeface="B Titr" panose="00000700000000000000" pitchFamily="2" charset="-78"/>
              </a:rPr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Proteomics</a:t>
            </a:r>
            <a:r>
              <a:rPr lang="en-US" sz="2800" b="1" dirty="0">
                <a:cs typeface="B Titr" panose="00000700000000000000" pitchFamily="2" charset="-78"/>
              </a:rPr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D7A4E-9BAA-1063-E59C-A5FE398FE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47111" y="2279636"/>
            <a:ext cx="5934973" cy="296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>
                <a:cs typeface="B Nazanin" panose="00000400000000000000" pitchFamily="2" charset="-78"/>
              </a:rPr>
              <a:t>پیش‌بینی ساختار و عملکرد پروتئین‌ها از روی توالی آمینواسیدها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>
                <a:cs typeface="B Nazanin" panose="00000400000000000000" pitchFamily="2" charset="-78"/>
              </a:rPr>
              <a:t>مراحل کلی: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cs typeface="B Nazanin" panose="00000400000000000000" pitchFamily="2" charset="-78"/>
              </a:rPr>
              <a:t>1-</a:t>
            </a:r>
            <a:r>
              <a:rPr lang="ar-SA" sz="1600" dirty="0">
                <a:cs typeface="B Nazanin" panose="00000400000000000000" pitchFamily="2" charset="-78"/>
              </a:rPr>
              <a:t>پیش‌بینی ساختار ثانویه (مثل مارپیچ آلفا و ورقه بتا)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cs typeface="B Nazanin" panose="00000400000000000000" pitchFamily="2" charset="-78"/>
              </a:rPr>
              <a:t>2-</a:t>
            </a:r>
            <a:r>
              <a:rPr lang="ar-SA" sz="1600" dirty="0">
                <a:cs typeface="B Nazanin" panose="00000400000000000000" pitchFamily="2" charset="-78"/>
              </a:rPr>
              <a:t>پیش‌بینی نقشه تماس‌ها </a:t>
            </a:r>
            <a:r>
              <a:rPr lang="en-US" sz="1600" dirty="0">
                <a:cs typeface="B Nazanin" panose="00000400000000000000" pitchFamily="2" charset="-78"/>
              </a:rPr>
              <a:t>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600" dirty="0">
                <a:cs typeface="B Nazanin" panose="00000400000000000000" pitchFamily="2" charset="-78"/>
              </a:rPr>
              <a:t>)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fa-IR" sz="1600" dirty="0">
                <a:cs typeface="B Nazanin" panose="00000400000000000000" pitchFamily="2" charset="-78"/>
              </a:rPr>
              <a:t>3-</a:t>
            </a:r>
            <a:r>
              <a:rPr lang="ar-SA" sz="1600" dirty="0">
                <a:cs typeface="B Nazanin" panose="00000400000000000000" pitchFamily="2" charset="-78"/>
              </a:rPr>
              <a:t>بازسازی ساختار سه‌بعدی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>
                <a:cs typeface="B Nazanin" panose="00000400000000000000" pitchFamily="2" charset="-78"/>
              </a:rPr>
              <a:t>دقت پیش‌بینی از حدود </a:t>
            </a:r>
            <a:r>
              <a:rPr lang="ar-SA" sz="1600" b="1" dirty="0">
                <a:cs typeface="B Nazanin" panose="00000400000000000000" pitchFamily="2" charset="-78"/>
              </a:rPr>
              <a:t>۶۰٪ به ۹۵٪</a:t>
            </a:r>
            <a:r>
              <a:rPr lang="ar-SA" sz="1600" dirty="0">
                <a:cs typeface="B Nazanin" panose="00000400000000000000" pitchFamily="2" charset="-78"/>
              </a:rPr>
              <a:t> رسیده است.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>
                <a:cs typeface="B Nazanin" panose="00000400000000000000" pitchFamily="2" charset="-78"/>
              </a:rPr>
              <a:t>کاربردها: طراحی دارو، درک جهش‌های ژنتیکی، شناسایی جایگاه اتصال مولکول‌ها.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3541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273834" y="10"/>
            <a:ext cx="6361212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853" y="461960"/>
            <a:ext cx="4558867" cy="690880"/>
          </a:xfrm>
        </p:spPr>
        <p:txBody>
          <a:bodyPr anchor="b">
            <a:normAutofit fontScale="90000"/>
          </a:bodyPr>
          <a:lstStyle/>
          <a:p>
            <a:pPr algn="r" rtl="1"/>
            <a:r>
              <a:rPr lang="ar-SA" sz="2800" b="1" dirty="0">
                <a:cs typeface="B Titr" panose="00000700000000000000" pitchFamily="2" charset="-78"/>
              </a:rPr>
              <a:t>کاربرد ۳: ژنوم و رونویسی </a:t>
            </a:r>
            <a:r>
              <a:rPr lang="en-US" sz="2800" b="1" dirty="0">
                <a:cs typeface="B Titr" panose="00000700000000000000" pitchFamily="2" charset="-78"/>
              </a:rPr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Genomics</a:t>
            </a:r>
            <a:r>
              <a:rPr lang="en-US" sz="2800" b="1" dirty="0">
                <a:cs typeface="B Titr" panose="00000700000000000000" pitchFamily="2" charset="-78"/>
              </a:rPr>
              <a:t> &amp;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Transcriptomics</a:t>
            </a:r>
            <a:r>
              <a:rPr lang="en-US" sz="2800" b="1" dirty="0">
                <a:cs typeface="B Titr" panose="00000700000000000000" pitchFamily="2" charset="-78"/>
              </a:rPr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D7A4E-9BAA-1063-E59C-A5FE398FE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80254" y="2238462"/>
            <a:ext cx="5544388" cy="353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تحلیل توالی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ar-SA" dirty="0">
                <a:cs typeface="B Nazanin" panose="00000400000000000000" pitchFamily="2" charset="-78"/>
              </a:rPr>
              <a:t>و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ar-SA" dirty="0">
                <a:cs typeface="B Nazanin" panose="00000400000000000000" pitchFamily="2" charset="-78"/>
              </a:rPr>
              <a:t>با شبکه‌های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ar-SA" dirty="0">
                <a:cs typeface="B Nazanin" panose="00000400000000000000" pitchFamily="2" charset="-78"/>
              </a:rPr>
              <a:t>و </a:t>
            </a:r>
            <a:r>
              <a:rPr lang="en-US" dirty="0">
                <a:cs typeface="B Nazanin" panose="00000400000000000000" pitchFamily="2" charset="-78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کاربردها:</a:t>
            </a:r>
          </a:p>
          <a:p>
            <a:pPr marL="1048950" lvl="2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شناسایی نواحی فعال در ژن‌ها</a:t>
            </a:r>
          </a:p>
          <a:p>
            <a:pPr marL="1048950" lvl="2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تشخیص محل اتصال فاکتورهای رونویسی</a:t>
            </a:r>
          </a:p>
          <a:p>
            <a:pPr marL="1048950" lvl="2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پیش‌بینی تأثیر جهش‌ها بر بیماری‌ها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استفاده از داده‌های آزمایشگاهی مانند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ar-SA" dirty="0">
                <a:cs typeface="B Nazanin" panose="00000400000000000000" pitchFamily="2" charset="-78"/>
              </a:rPr>
              <a:t>و </a:t>
            </a:r>
            <a:r>
              <a:rPr lang="en-US" dirty="0">
                <a:cs typeface="B Nazanin" panose="00000400000000000000" pitchFamily="2" charset="-78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RNA-seq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79318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690880"/>
          </a:xfrm>
        </p:spPr>
        <p:txBody>
          <a:bodyPr anchor="b">
            <a:normAutofit fontScale="90000"/>
          </a:bodyPr>
          <a:lstStyle/>
          <a:p>
            <a:pPr rtl="1"/>
            <a:r>
              <a:rPr lang="ar-SA" sz="2800" b="1" dirty="0">
                <a:cs typeface="B Titr" panose="00000700000000000000" pitchFamily="2" charset="-78"/>
              </a:rPr>
              <a:t>کاربرد ۴: تصویربرداری پزشکی </a:t>
            </a:r>
            <a:r>
              <a:rPr lang="en-US" sz="2800" b="1" dirty="0"/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Imaging</a:t>
            </a:r>
            <a:r>
              <a:rPr lang="en-US" sz="2800" b="1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D7A4E-9BAA-1063-E59C-A5FE398FE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75120" y="1574707"/>
            <a:ext cx="5303520" cy="5009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B Nazanin" panose="00000400000000000000" pitchFamily="2" charset="-78"/>
              </a:rPr>
              <a:t>CNN</a:t>
            </a:r>
            <a:r>
              <a:rPr lang="ar-SA" dirty="0">
                <a:cs typeface="B Nazanin" panose="00000400000000000000" pitchFamily="2" charset="-78"/>
              </a:rPr>
              <a:t>ها برای تحلیل تصاویر پزشکی استفاده می‌شوند.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کاربردها: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تشخیص سرطان سینه، پوست و ریه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تشخیص دیابت از عکس شبکیه چشم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شناسایی تومور و ناهنجاری‌ها در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ar-SA" dirty="0">
                <a:cs typeface="B Nazanin" panose="00000400000000000000" pitchFamily="2" charset="-78"/>
              </a:rPr>
              <a:t>یا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در بعضی موارد دقت مدل‌ها از پزشک هم بیشتر بوده است!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می‌توان برای تشخیص خودکار و بخش‌بندی نواحی بدن استفاده کرد.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25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690880"/>
          </a:xfrm>
        </p:spPr>
        <p:txBody>
          <a:bodyPr anchor="b">
            <a:normAutofit fontScale="90000"/>
          </a:bodyPr>
          <a:lstStyle/>
          <a:p>
            <a:pPr rtl="1"/>
            <a:r>
              <a:rPr lang="ar-SA" sz="2800" b="1" dirty="0">
                <a:cs typeface="B Titr" panose="00000700000000000000" pitchFamily="2" charset="-78"/>
              </a:rPr>
              <a:t>کاربرد ۵: سلامت و پرونده‌های پزشکی </a:t>
            </a:r>
            <a:r>
              <a:rPr lang="en-US" sz="2800" b="1" dirty="0">
                <a:cs typeface="B Titr" panose="00000700000000000000" pitchFamily="2" charset="-78"/>
              </a:rPr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en-US" sz="2800" b="1" dirty="0">
                <a:cs typeface="B Titr" panose="00000700000000000000" pitchFamily="2" charset="-78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</a:t>
            </a:r>
            <a:r>
              <a:rPr lang="en-US" sz="2800" b="1" dirty="0">
                <a:cs typeface="B Titr" panose="00000700000000000000" pitchFamily="2" charset="-78"/>
              </a:rPr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D7A4E-9BAA-1063-E59C-A5FE398FE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5263" y="1949777"/>
            <a:ext cx="5758497" cy="315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تحلیل سوابق بیماران با شبکه‌های عمیق برای: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پیش‌بینی عوارض بعد از عمل جراحی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شناسایی بیماری‌های قلبی یا عروقی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تشخیص خودکار الگوهای بیماری در طول زمان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با استفاده از داده‌های الکترونیکی و الگوریتم‌های خودیادگیر.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668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690880"/>
          </a:xfrm>
        </p:spPr>
        <p:txBody>
          <a:bodyPr anchor="b">
            <a:normAutofit/>
          </a:bodyPr>
          <a:lstStyle/>
          <a:p>
            <a:r>
              <a:rPr lang="ar-SA" sz="2800" b="1" dirty="0">
                <a:cs typeface="B Titr" panose="00000700000000000000" pitchFamily="2" charset="-78"/>
              </a:rPr>
              <a:t>چالش‌ها</a:t>
            </a:r>
            <a:endParaRPr lang="en-US" sz="2800" b="1" dirty="0">
              <a:cs typeface="B Titr" panose="00000700000000000000" pitchFamily="2" charset="-78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4E61F70-DB4A-9604-5B8D-DEEBA80195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88146" y="2274838"/>
            <a:ext cx="47628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کمبود داده‌های مناسب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در برخی حوزه‌ها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مشکل شفافیت مدل‌ها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 (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B Nazanin" panose="00000400000000000000" pitchFamily="2" charset="-78"/>
              </a:rPr>
              <a:t>Black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B Nazanin" panose="00000400000000000000" pitchFamily="2" charset="-78"/>
              </a:rPr>
              <a:t>Box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)</a:t>
            </a:r>
            <a:r>
              <a:rPr kumimoji="0" lang="fa-I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</a:b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نمی‌دانیم دقیقاً شبکه چطور تصمیم گرفته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حریم خصوصی بیماران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و موانع قانونی برای به‌اشتراک‌گذاری داده‌ها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نیاز به مدل‌های قابل توضیح و قابل اعتماد در پزشکی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238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690880"/>
          </a:xfrm>
        </p:spPr>
        <p:txBody>
          <a:bodyPr anchor="b">
            <a:normAutofit/>
          </a:bodyPr>
          <a:lstStyle/>
          <a:p>
            <a:r>
              <a:rPr lang="ar-SA" sz="2800" b="1" dirty="0">
                <a:cs typeface="B Titr" panose="00000700000000000000" pitchFamily="2" charset="-78"/>
              </a:rPr>
              <a:t>نتیجه‌گیری و آینده</a:t>
            </a:r>
            <a:endParaRPr lang="en-US" sz="2800" b="1" dirty="0">
              <a:cs typeface="B Titr" panose="00000700000000000000" pitchFamily="2" charset="-78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D7A4E-9BAA-1063-E59C-A5FE398FE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57025" y="1914922"/>
            <a:ext cx="593497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یادگیری عمیق در پزشکی رو به رشد و بسیار امیدبخش است.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در آینده: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تشخیص سریع‌تر و دقیق‌تر بیماری‌ها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طراحی هدفمند داروها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مراقبت هوشمندتر از بیماران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cs typeface="B Nazanin" panose="00000400000000000000" pitchFamily="2" charset="-78"/>
              </a:rPr>
              <a:t>اما برای پیشرفت بیشتر، باید داده‌های باکیفیت‌تر و مدل‌های شفاف‌تر داشته باشیم.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28959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9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0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{DC7245A2-DF14-4F81-B1F4-29FC20BD2C6A}TFe742eee6-54b3-45e8-a03d-f3d997f9b6caf6c338c2_win32-3734725ae7e2</Template>
  <TotalTime>119</TotalTime>
  <Words>586</Words>
  <Application>Microsoft Office PowerPoint</Application>
  <PresentationFormat>Widescreen</PresentationFormat>
  <Paragraphs>88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 Nazanin</vt:lpstr>
      <vt:lpstr>B Titr</vt:lpstr>
      <vt:lpstr>Calibri</vt:lpstr>
      <vt:lpstr>Goudy Old Style</vt:lpstr>
      <vt:lpstr>Times New Roman</vt:lpstr>
      <vt:lpstr>Wingdings 2</vt:lpstr>
      <vt:lpstr>SlateVTI</vt:lpstr>
      <vt:lpstr>یادگیری عمیق در علوم داده زیست‌پزشکی (Deep Learning in Biomedical Data Science) نویسنده: Pierre Baldi – دانشگاه کالیفرنیا، ارواین (2018)</vt:lpstr>
      <vt:lpstr>یادگیری عمیق چیست؟</vt:lpstr>
      <vt:lpstr>داده‌های زیست‌پزشکی</vt:lpstr>
      <vt:lpstr>شبکه‌های عصبی و روش‌ها</vt:lpstr>
      <vt:lpstr>کاربرد ۱: شیمی‌اطلاعات (Chemoinformatics)</vt:lpstr>
      <vt:lpstr>کاربرد ۲: پروتئین‌ها (Proteomics)</vt:lpstr>
      <vt:lpstr>کاربرد ۳: ژنوم و رونویسی (Genomics &amp; Transcriptomics)</vt:lpstr>
      <vt:lpstr>کاربرد ۴: تصویربرداری پزشکی (Biomedical Imaging)</vt:lpstr>
      <vt:lpstr>کاربرد ۵: سلامت و پرونده‌های پزشکی (Health Care)</vt:lpstr>
      <vt:lpstr>چالش‌ها</vt:lpstr>
      <vt:lpstr>نتیجه‌گیری و آینده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</dc:creator>
  <cp:lastModifiedBy>amir</cp:lastModifiedBy>
  <cp:revision>1</cp:revision>
  <dcterms:created xsi:type="dcterms:W3CDTF">2025-11-11T19:10:47Z</dcterms:created>
  <dcterms:modified xsi:type="dcterms:W3CDTF">2025-11-11T21:10:02Z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